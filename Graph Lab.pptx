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33" autoAdjust="0"/>
    <p:restoredTop sz="94660"/>
  </p:normalViewPr>
  <p:slideViewPr>
    <p:cSldViewPr>
      <p:cViewPr varScale="1">
        <p:scale>
          <a:sx n="109" d="100"/>
          <a:sy n="109" d="100"/>
        </p:scale>
        <p:origin x="363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38609"/>
              </p:ext>
            </p:extLst>
          </p:nvPr>
        </p:nvGraphicFramePr>
        <p:xfrm>
          <a:off x="539750" y="5140325"/>
          <a:ext cx="5464175" cy="237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400300" progId="Word.Document.8">
                  <p:embed/>
                </p:oleObj>
              </mc:Choice>
              <mc:Fallback>
                <p:oleObj name="Document" r:id="rId2" imgW="5486400" imgH="24003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140325"/>
                        <a:ext cx="5464175" cy="237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D08D1-88B8-0E5D-8E7F-95CD9FE6213B}"/>
              </a:ext>
            </a:extLst>
          </p:cNvPr>
          <p:cNvSpPr/>
          <p:nvPr/>
        </p:nvSpPr>
        <p:spPr bwMode="auto">
          <a:xfrm>
            <a:off x="838201" y="2971800"/>
            <a:ext cx="838199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Oregon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A7A24-D1DF-AAC4-658A-ABD1555A004E}"/>
              </a:ext>
            </a:extLst>
          </p:cNvPr>
          <p:cNvSpPr/>
          <p:nvPr/>
        </p:nvSpPr>
        <p:spPr bwMode="auto">
          <a:xfrm>
            <a:off x="2421125" y="2971800"/>
            <a:ext cx="838199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Alaska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D940E-0FFE-A1ED-4404-556F610D998E}"/>
              </a:ext>
            </a:extLst>
          </p:cNvPr>
          <p:cNvSpPr/>
          <p:nvPr/>
        </p:nvSpPr>
        <p:spPr bwMode="auto">
          <a:xfrm>
            <a:off x="3714750" y="2919413"/>
            <a:ext cx="838199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Texas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29D30-0CD6-E1F0-FBC4-4AAAF0AB39EE}"/>
              </a:ext>
            </a:extLst>
          </p:cNvPr>
          <p:cNvSpPr/>
          <p:nvPr/>
        </p:nvSpPr>
        <p:spPr bwMode="auto">
          <a:xfrm>
            <a:off x="2659857" y="3821579"/>
            <a:ext cx="838199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Hawaii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F1D1F-2293-731B-9FC7-9E80D8A68886}"/>
              </a:ext>
            </a:extLst>
          </p:cNvPr>
          <p:cNvSpPr/>
          <p:nvPr/>
        </p:nvSpPr>
        <p:spPr bwMode="auto">
          <a:xfrm>
            <a:off x="5341658" y="3751263"/>
            <a:ext cx="975098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Vermont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0D024-18D7-6357-C587-2CE4A354CEEA}"/>
              </a:ext>
            </a:extLst>
          </p:cNvPr>
          <p:cNvSpPr/>
          <p:nvPr/>
        </p:nvSpPr>
        <p:spPr bwMode="auto">
          <a:xfrm>
            <a:off x="3886200" y="3785721"/>
            <a:ext cx="1114424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New York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EACB56-6515-B367-80B2-9ECA9A54967C}"/>
              </a:ext>
            </a:extLst>
          </p:cNvPr>
          <p:cNvSpPr/>
          <p:nvPr/>
        </p:nvSpPr>
        <p:spPr bwMode="auto">
          <a:xfrm>
            <a:off x="691123" y="4122738"/>
            <a:ext cx="1114424" cy="381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California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93CB1D-B87C-9DC6-0C3A-3A3D14A77A72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 bwMode="auto">
          <a:xfrm flipH="1">
            <a:off x="1676400" y="3162300"/>
            <a:ext cx="74472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A21C6E-7715-4195-32C2-0604128B5609}"/>
              </a:ext>
            </a:extLst>
          </p:cNvPr>
          <p:cNvCxnSpPr>
            <a:stCxn id="5" idx="0"/>
            <a:endCxn id="3" idx="2"/>
          </p:cNvCxnSpPr>
          <p:nvPr/>
        </p:nvCxnSpPr>
        <p:spPr bwMode="auto">
          <a:xfrm flipH="1" flipV="1">
            <a:off x="2840225" y="3352800"/>
            <a:ext cx="238732" cy="4687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E8365F-68BF-3D7F-2D0F-E2FD39F69C5A}"/>
              </a:ext>
            </a:extLst>
          </p:cNvPr>
          <p:cNvCxnSpPr>
            <a:stCxn id="5" idx="3"/>
            <a:endCxn id="4" idx="2"/>
          </p:cNvCxnSpPr>
          <p:nvPr/>
        </p:nvCxnSpPr>
        <p:spPr bwMode="auto">
          <a:xfrm flipV="1">
            <a:off x="3498056" y="3300413"/>
            <a:ext cx="635794" cy="7116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66C6E3-9703-9960-D671-11B613BCE18B}"/>
              </a:ext>
            </a:extLst>
          </p:cNvPr>
          <p:cNvCxnSpPr>
            <a:cxnSpLocks/>
          </p:cNvCxnSpPr>
          <p:nvPr/>
        </p:nvCxnSpPr>
        <p:spPr bwMode="auto">
          <a:xfrm flipH="1">
            <a:off x="3423069" y="3297238"/>
            <a:ext cx="291681" cy="5243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2AA645-30FB-7067-1941-1DEFBEC82BB7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 bwMode="auto">
          <a:xfrm flipH="1">
            <a:off x="1805547" y="4012079"/>
            <a:ext cx="854310" cy="3011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D965B5B-2D84-3361-F1B4-27D7B72E2113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 flipV="1">
            <a:off x="3498056" y="3976221"/>
            <a:ext cx="388144" cy="358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93B1F79-71A1-A486-94B2-FC4E1EB9F489}"/>
              </a:ext>
            </a:extLst>
          </p:cNvPr>
          <p:cNvCxnSpPr>
            <a:stCxn id="4" idx="3"/>
            <a:endCxn id="6" idx="0"/>
          </p:cNvCxnSpPr>
          <p:nvPr/>
        </p:nvCxnSpPr>
        <p:spPr bwMode="auto">
          <a:xfrm>
            <a:off x="4552949" y="3109913"/>
            <a:ext cx="1276258" cy="641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8E9AF9B-0FC2-D2DC-985E-0BFC5A8E5265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 flipH="1">
            <a:off x="1796582" y="4132263"/>
            <a:ext cx="4032625" cy="2754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4AF0B9-F442-52C6-0701-75EECAD61401}"/>
              </a:ext>
            </a:extLst>
          </p:cNvPr>
          <p:cNvCxnSpPr/>
          <p:nvPr/>
        </p:nvCxnSpPr>
        <p:spPr bwMode="auto">
          <a:xfrm flipH="1" flipV="1">
            <a:off x="3259324" y="3352800"/>
            <a:ext cx="2082334" cy="3984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599" y="6309986"/>
            <a:ext cx="4091535" cy="23006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E1DDD-B202-95FC-BE28-17B7AD20EE29}"/>
              </a:ext>
            </a:extLst>
          </p:cNvPr>
          <p:cNvSpPr txBox="1"/>
          <p:nvPr/>
        </p:nvSpPr>
        <p:spPr>
          <a:xfrm>
            <a:off x="990600" y="1949559"/>
            <a:ext cx="101983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Alaska</a:t>
            </a:r>
          </a:p>
          <a:p>
            <a:r>
              <a:rPr lang="en-US" sz="1600" dirty="0"/>
              <a:t>California</a:t>
            </a:r>
          </a:p>
          <a:p>
            <a:r>
              <a:rPr lang="en-US" sz="1600" dirty="0"/>
              <a:t>Hawaii</a:t>
            </a:r>
          </a:p>
          <a:p>
            <a:r>
              <a:rPr lang="en-US" sz="1600" dirty="0"/>
              <a:t>New York</a:t>
            </a:r>
          </a:p>
          <a:p>
            <a:r>
              <a:rPr lang="en-US" sz="1600" dirty="0"/>
              <a:t>Oregon</a:t>
            </a:r>
          </a:p>
          <a:p>
            <a:r>
              <a:rPr lang="en-US" sz="1600" dirty="0"/>
              <a:t>Texas</a:t>
            </a:r>
          </a:p>
          <a:p>
            <a:r>
              <a:rPr lang="en-US" sz="1600" dirty="0"/>
              <a:t>Vermont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E33C6-EBAF-8500-745C-1F7BEAC2DDA6}"/>
              </a:ext>
            </a:extLst>
          </p:cNvPr>
          <p:cNvSpPr txBox="1"/>
          <p:nvPr/>
        </p:nvSpPr>
        <p:spPr>
          <a:xfrm>
            <a:off x="2419611" y="1301244"/>
            <a:ext cx="2662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  CA  HI  NY  OR  TX  VT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E53F5F-3650-2141-3AB3-AB865ECBE0E0}"/>
              </a:ext>
            </a:extLst>
          </p:cNvPr>
          <p:cNvSpPr txBox="1"/>
          <p:nvPr/>
        </p:nvSpPr>
        <p:spPr>
          <a:xfrm>
            <a:off x="2481569" y="1912745"/>
            <a:ext cx="254428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0      0     0     0     1      0     0</a:t>
            </a:r>
          </a:p>
          <a:p>
            <a:r>
              <a:rPr lang="en-US" sz="1600" dirty="0"/>
              <a:t>0      0     0     0     0      0     0</a:t>
            </a:r>
          </a:p>
          <a:p>
            <a:r>
              <a:rPr lang="en-US" sz="1600" dirty="0"/>
              <a:t>1      1     0     1     0      1     0</a:t>
            </a:r>
          </a:p>
          <a:p>
            <a:r>
              <a:rPr lang="en-US" sz="1600" dirty="0"/>
              <a:t>0      0     0     0     0      0     0</a:t>
            </a:r>
          </a:p>
          <a:p>
            <a:r>
              <a:rPr lang="en-US" sz="1600" dirty="0"/>
              <a:t>0      0     0     0     0      0     0</a:t>
            </a:r>
          </a:p>
          <a:p>
            <a:r>
              <a:rPr lang="en-US" sz="1600" dirty="0"/>
              <a:t>0      0     1     0     0      0     1</a:t>
            </a:r>
          </a:p>
          <a:p>
            <a:r>
              <a:rPr lang="en-US" sz="1600" dirty="0"/>
              <a:t>1      1     0     0     0      0     0</a:t>
            </a:r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4E4EB-2FE6-9D15-E631-3307636E90F9}"/>
              </a:ext>
            </a:extLst>
          </p:cNvPr>
          <p:cNvSpPr txBox="1"/>
          <p:nvPr/>
        </p:nvSpPr>
        <p:spPr>
          <a:xfrm>
            <a:off x="975984" y="6309986"/>
            <a:ext cx="40418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Alaska: [Oregon]</a:t>
            </a:r>
          </a:p>
          <a:p>
            <a:r>
              <a:rPr lang="en-US" sz="1600" dirty="0"/>
              <a:t>California: []</a:t>
            </a:r>
          </a:p>
          <a:p>
            <a:r>
              <a:rPr lang="en-US" sz="1600" dirty="0"/>
              <a:t>Hawaii: [Alaska, California, New York, Texas]</a:t>
            </a:r>
          </a:p>
          <a:p>
            <a:r>
              <a:rPr lang="en-US" sz="1600" dirty="0"/>
              <a:t>New York: []</a:t>
            </a:r>
          </a:p>
          <a:p>
            <a:r>
              <a:rPr lang="en-US" sz="1600" dirty="0"/>
              <a:t>Oregon: []</a:t>
            </a:r>
          </a:p>
          <a:p>
            <a:r>
              <a:rPr lang="en-US" sz="1600" dirty="0"/>
              <a:t>Texas: [Hawaii, Vermont]</a:t>
            </a:r>
          </a:p>
          <a:p>
            <a:r>
              <a:rPr lang="en-US" sz="1600" dirty="0"/>
              <a:t>Vermont: [Alaska, California]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b="1" dirty="0"/>
              <a:t>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46DA31-E65A-4D78-5E3B-DA716CF02E40}"/>
              </a:ext>
            </a:extLst>
          </p:cNvPr>
          <p:cNvSpPr txBox="1"/>
          <p:nvPr/>
        </p:nvSpPr>
        <p:spPr>
          <a:xfrm>
            <a:off x="751562" y="4484318"/>
            <a:ext cx="157889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From Atlanta to:</a:t>
            </a:r>
          </a:p>
          <a:p>
            <a:r>
              <a:rPr lang="en-US" sz="1600" dirty="0"/>
              <a:t>Houston: 800</a:t>
            </a:r>
          </a:p>
          <a:p>
            <a:r>
              <a:rPr lang="en-US" sz="1600" dirty="0"/>
              <a:t>Washington: 600</a:t>
            </a:r>
          </a:p>
          <a:p>
            <a:r>
              <a:rPr lang="en-US" sz="1600" dirty="0"/>
              <a:t>Denver: 2680</a:t>
            </a:r>
          </a:p>
          <a:p>
            <a:r>
              <a:rPr lang="en-US" sz="1600" dirty="0"/>
              <a:t>Dallas: 1900</a:t>
            </a:r>
          </a:p>
          <a:p>
            <a:r>
              <a:rPr lang="en-US" sz="1600" dirty="0"/>
              <a:t>Austin: 2100</a:t>
            </a:r>
          </a:p>
          <a:p>
            <a:r>
              <a:rPr lang="en-US" sz="1600" dirty="0"/>
              <a:t>Chicago: 2800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83A47E-19AB-E958-4D8A-789D03CC8638}"/>
              </a:ext>
            </a:extLst>
          </p:cNvPr>
          <p:cNvSpPr txBox="1"/>
          <p:nvPr/>
        </p:nvSpPr>
        <p:spPr>
          <a:xfrm>
            <a:off x="4231341" y="1595718"/>
            <a:ext cx="16898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(0,2) weight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(2,5) weight 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(5,1) weight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(5,4) weight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(1,3) weight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D3E877-DE5B-EA53-300D-B2DF300CE102}"/>
              </a:ext>
            </a:extLst>
          </p:cNvPr>
          <p:cNvSpPr txBox="1"/>
          <p:nvPr/>
        </p:nvSpPr>
        <p:spPr>
          <a:xfrm>
            <a:off x="4231341" y="1595718"/>
            <a:ext cx="16898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(2,5) weight 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(5,1) weight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(5,4) weight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(2,0) weight 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(1,3) weight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10A724-A555-31B1-82D4-4F55AAEC1504}"/>
              </a:ext>
            </a:extLst>
          </p:cNvPr>
          <p:cNvSpPr txBox="1"/>
          <p:nvPr/>
        </p:nvSpPr>
        <p:spPr>
          <a:xfrm>
            <a:off x="609600" y="5257800"/>
            <a:ext cx="37577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{Minneapolis, Des Moines} weight 235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{Minneapolis, Madison} weight 270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{(Madison, Milwaukee} weight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{Milwaukee, Chicago} weight 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{Chicago, St. Louis} weight 270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{Chicago, Detroit} weight 280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62255"/>
            <a:ext cx="3962400" cy="249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8D6782-EDA8-D494-F9AF-8D94C2F99C86}"/>
              </a:ext>
            </a:extLst>
          </p:cNvPr>
          <p:cNvSpPr txBox="1"/>
          <p:nvPr/>
        </p:nvSpPr>
        <p:spPr>
          <a:xfrm>
            <a:off x="76200" y="3133392"/>
            <a:ext cx="440228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/>
                </a:solidFill>
              </a:rPr>
              <a:t>predCount</a:t>
            </a:r>
            <a:r>
              <a:rPr lang="en-US" sz="1600" dirty="0">
                <a:solidFill>
                  <a:schemeClr val="bg2"/>
                </a:solidFill>
              </a:rPr>
              <a:t>:</a:t>
            </a:r>
          </a:p>
          <a:p>
            <a:r>
              <a:rPr lang="en-US" sz="1600" dirty="0">
                <a:solidFill>
                  <a:schemeClr val="bg2"/>
                </a:solidFill>
              </a:rPr>
              <a:t>0: 0, 1: 1, 2: 1, 3: 3, 4: 3, 5: 2, 6: 2, 7: 0, 8: 2, 9: 2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1: 0, 2: 1, 3: 3, 4: 3, 5: 1, 6: 2, 7: 0, 8: 2, 9: 2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1: 0, 2: 1, 3: 3, 4: 2, 5: 1, 6: 1, 8: 2,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2: 0, 3: 2, 4: 1, 5: 0, 6: 0, 8: 2,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3: 2, 4: 0, 5: 0, 6: 0, 8: 2,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3: 2, 4: 0, 6: 0, 8: 1,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3: 1, 4: 0, 8: 0,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3: 0, 8: 0, 9: 1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3: 0, 9: 0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9: 0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endParaRPr lang="en-US" sz="1600" dirty="0">
              <a:solidFill>
                <a:schemeClr val="bg2"/>
              </a:solidFill>
            </a:endParaRPr>
          </a:p>
          <a:p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D5100-C815-12C5-A998-906A084E1B5D}"/>
              </a:ext>
            </a:extLst>
          </p:cNvPr>
          <p:cNvSpPr txBox="1"/>
          <p:nvPr/>
        </p:nvSpPr>
        <p:spPr>
          <a:xfrm>
            <a:off x="228600" y="3646381"/>
            <a:ext cx="61987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[0, 7].  Dequeue 0. </a:t>
            </a:r>
            <a:r>
              <a:rPr lang="en-US" sz="1600" dirty="0" err="1"/>
              <a:t>topologicalOrder</a:t>
            </a:r>
            <a:r>
              <a:rPr lang="en-US" sz="1600" dirty="0"/>
              <a:t>: [0].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[7, 1].  Dequeue 7. </a:t>
            </a:r>
            <a:r>
              <a:rPr lang="en-US" sz="1600" dirty="0" err="1"/>
              <a:t>topologicalOrder</a:t>
            </a:r>
            <a:r>
              <a:rPr lang="en-US" sz="1600" dirty="0"/>
              <a:t>: [0, 7].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[1].  Dequeue 1. </a:t>
            </a:r>
            <a:r>
              <a:rPr lang="en-US" sz="1600" dirty="0" err="1"/>
              <a:t>topologicalOrder</a:t>
            </a:r>
            <a:r>
              <a:rPr lang="en-US" sz="1600" dirty="0"/>
              <a:t>: [0, 7, 1].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[2, 5, 6].  Dequeue 2. </a:t>
            </a:r>
            <a:r>
              <a:rPr lang="en-US" sz="1600" dirty="0" err="1"/>
              <a:t>topologicalOrder</a:t>
            </a:r>
            <a:r>
              <a:rPr lang="en-US" sz="1600" dirty="0"/>
              <a:t>: [0, 7, 1, 2].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[5, 6, 4].  Dequeue 5.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[6, 4].  Dequeue 6.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5, 6].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[4, 8].  Dequeue 4.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5, 6, 4].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[8, 3].  Dequeue 8.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5, 6, 4, 8].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[3, 9].  Dequeue 3.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5, 6, 4, 8, 3].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Queue: [9].  Dequeue 9. </a:t>
            </a:r>
            <a:r>
              <a:rPr lang="en-US" sz="1600" dirty="0" err="1"/>
              <a:t>topologicalOrder</a:t>
            </a:r>
            <a:r>
              <a:rPr lang="en-US" sz="1600" dirty="0"/>
              <a:t>: [0, 7, 1, 2, 5, 6, 4, 8, 3, 9].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18" y="185664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83" y="-22412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7DD75A-13ED-48AC-6C7E-F2595F18FC05}"/>
              </a:ext>
            </a:extLst>
          </p:cNvPr>
          <p:cNvSpPr txBox="1"/>
          <p:nvPr/>
        </p:nvSpPr>
        <p:spPr>
          <a:xfrm>
            <a:off x="-4482" y="2590800"/>
            <a:ext cx="66294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/>
                </a:solidFill>
              </a:rPr>
              <a:t>predCount</a:t>
            </a:r>
            <a:r>
              <a:rPr lang="en-US" sz="1300" dirty="0">
                <a:solidFill>
                  <a:schemeClr val="bg2"/>
                </a:solidFill>
              </a:rPr>
              <a:t>:</a:t>
            </a:r>
          </a:p>
          <a:p>
            <a:r>
              <a:rPr lang="en-US" sz="1300" dirty="0">
                <a:solidFill>
                  <a:schemeClr val="bg2"/>
                </a:solidFill>
              </a:rPr>
              <a:t>Start:0, DM:1, P1:1, P2:2, CO:1, A:1, HLL:1, OS:1,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DM:0, P1:0, P2:2, CO:1, A:1, HLL:1, OS:1,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P1:0, P2:1, CO:1, A:1, HLL:1, OS:1,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P2:0, CO:0, A:1, HLL:1, OS:1,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CO:0, A:0, HLL:0, OS:1,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A:0, HLL:0, OS:0, SS:4, C: 1, TOC:1,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HLL:0, OS:0, SS:4, C: 1, TOC:0,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OS:0, SS:3, C: 1, TOC:0,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SS:2, C: 0, TOC:0,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SS:1, C: 0,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SS:0, End:1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r>
              <a:rPr lang="en-US" sz="1300" dirty="0">
                <a:solidFill>
                  <a:schemeClr val="bg2"/>
                </a:solidFill>
              </a:rPr>
              <a:t>End:0</a:t>
            </a: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  <a:p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418FB-2D8F-541E-DE24-ADE731F9B51B}"/>
              </a:ext>
            </a:extLst>
          </p:cNvPr>
          <p:cNvSpPr txBox="1"/>
          <p:nvPr/>
        </p:nvSpPr>
        <p:spPr>
          <a:xfrm>
            <a:off x="152400" y="2935234"/>
            <a:ext cx="6553200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[Start].  Dequeue Start. </a:t>
            </a:r>
            <a:r>
              <a:rPr lang="en-US" sz="1300" dirty="0" err="1"/>
              <a:t>topologicalOrder</a:t>
            </a:r>
            <a:r>
              <a:rPr lang="en-US" sz="1300" dirty="0"/>
              <a:t>: [Start].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[DM, P1].  Dequeue DM. </a:t>
            </a:r>
            <a:r>
              <a:rPr lang="en-US" sz="1300" dirty="0" err="1"/>
              <a:t>topologicalOrder</a:t>
            </a:r>
            <a:r>
              <a:rPr lang="en-US" sz="1300" dirty="0"/>
              <a:t>: [Start, DM].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[P1].  Dequeue P1.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[P2, CO].  Dequeue P2.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[CO, A, HLL].  Dequeue CO.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[A, HLL, OS].  Dequeue A.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[HLL, OS, TOC].  Dequeue HLL.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[OS, TOC].  Dequeue OS.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HLL, OS].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[TOC, C].  Dequeue TOC.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HLL, OS, TOC].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[C].  Dequeue C.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HLL, OS, TOC, C].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[SS].  Dequeue SS.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HLL, OS, TOC, C, SS].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/>
              <a:t>Queue: [End].  Dequeue End. </a:t>
            </a:r>
            <a:r>
              <a:rPr lang="en-US" sz="1300" dirty="0" err="1"/>
              <a:t>topologicalOrder</a:t>
            </a:r>
            <a:r>
              <a:rPr lang="en-US" sz="1300" dirty="0"/>
              <a:t>: [Start, DM, P1, P2, CO, A, HLL, OS, TOC, C, SS, End]. 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1689</Words>
  <Application>Microsoft Macintosh PowerPoint</Application>
  <PresentationFormat>On-screen Show (4:3)</PresentationFormat>
  <Paragraphs>180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Default Design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Podlesny, Renata</cp:lastModifiedBy>
  <cp:revision>19</cp:revision>
  <cp:lastPrinted>2018-11-12T14:09:18Z</cp:lastPrinted>
  <dcterms:created xsi:type="dcterms:W3CDTF">2003-11-20T06:12:01Z</dcterms:created>
  <dcterms:modified xsi:type="dcterms:W3CDTF">2026-05-12T00:15:33Z</dcterms:modified>
</cp:coreProperties>
</file>